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5"/>
  </p:sldMasterIdLst>
  <p:notesMasterIdLst>
    <p:notesMasterId r:id="rId8"/>
  </p:notesMasterIdLst>
  <p:handoutMasterIdLst>
    <p:handoutMasterId r:id="rId9"/>
  </p:handoutMasterIdLst>
  <p:sldIdLst>
    <p:sldId id="850" r:id="rId6"/>
    <p:sldId id="854" r:id="rId7"/>
  </p:sldIdLst>
  <p:sldSz cx="12192000" cy="6858000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00" kern="1200">
        <a:solidFill>
          <a:srgbClr val="003366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16AB1FE-7A0B-4D3B-B8A2-11298DB480C3}">
          <p14:sldIdLst>
            <p14:sldId id="850"/>
            <p14:sldId id="854"/>
          </p14:sldIdLst>
        </p14:section>
        <p14:section name="Appendix" id="{9FB23AE7-9FEB-4A00-8F27-C299081056D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rie Jennings" initials="TJ" lastIdx="1" clrIdx="0">
    <p:extLst>
      <p:ext uri="{19B8F6BF-5375-455C-9EA6-DF929625EA0E}">
        <p15:presenceInfo xmlns:p15="http://schemas.microsoft.com/office/powerpoint/2012/main" userId="S-1-5-21-805777034-2026243614-620655208-164001" providerId="AD"/>
      </p:ext>
    </p:extLst>
  </p:cmAuthor>
  <p:cmAuthor id="2" name="Adam Munger" initials="AM" lastIdx="1" clrIdx="1">
    <p:extLst>
      <p:ext uri="{19B8F6BF-5375-455C-9EA6-DF929625EA0E}">
        <p15:presenceInfo xmlns:p15="http://schemas.microsoft.com/office/powerpoint/2012/main" userId="S::AdamMunger@bftg.com::ce04a5c5-321b-4724-be9d-5e750e95cdec" providerId="AD"/>
      </p:ext>
    </p:extLst>
  </p:cmAuthor>
  <p:cmAuthor id="3" name="Terrie Jennings" initials="TJ [2]" lastIdx="2" clrIdx="2">
    <p:extLst>
      <p:ext uri="{19B8F6BF-5375-455C-9EA6-DF929625EA0E}">
        <p15:presenceInfo xmlns:p15="http://schemas.microsoft.com/office/powerpoint/2012/main" userId="S::terrijennings@bftg.com::ca200743-bc5e-4eb0-b4b1-a6262666d88d" providerId="AD"/>
      </p:ext>
    </p:extLst>
  </p:cmAuthor>
  <p:cmAuthor id="4" name="Rob Freeman" initials="RF" lastIdx="3" clrIdx="3">
    <p:extLst>
      <p:ext uri="{19B8F6BF-5375-455C-9EA6-DF929625EA0E}">
        <p15:presenceInfo xmlns:p15="http://schemas.microsoft.com/office/powerpoint/2012/main" userId="S::RobertFreeman@bftg.com::400228c1-7b1d-4db0-8bed-872cab6e74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CE"/>
    <a:srgbClr val="FFCC66"/>
    <a:srgbClr val="FFFF99"/>
    <a:srgbClr val="FFFFCC"/>
    <a:srgbClr val="FBFBFB"/>
    <a:srgbClr val="FFFFFF"/>
    <a:srgbClr val="F3F7FC"/>
    <a:srgbClr val="FF0000"/>
    <a:srgbClr val="3399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4" y="228"/>
      </p:cViewPr>
      <p:guideLst>
        <p:guide orient="horz" pos="1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7788" y="0"/>
            <a:ext cx="29702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02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7788" y="8831263"/>
            <a:ext cx="2970212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07" tIns="45754" rIns="91507" bIns="45754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FFF6DF0-1037-466D-AA19-AE1DB59D9E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02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4488" y="698500"/>
            <a:ext cx="6192837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416425"/>
            <a:ext cx="54832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defTabSz="89852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00" tIns="44897" rIns="89800" bIns="44897" numCol="1" anchor="b" anchorCtr="0" compatLnSpc="1">
            <a:prstTxWarp prst="textNoShape">
              <a:avLst/>
            </a:prstTxWarp>
          </a:bodyPr>
          <a:lstStyle>
            <a:lvl1pPr algn="r" defTabSz="898525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76B813D-8CED-4BFF-AF0D-24C1FB796A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DD69-8309-D121-CD14-02789F66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15503-4773-86DE-295B-22B68DDB2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4488" y="698500"/>
            <a:ext cx="6192837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C475F-B16E-28F2-0F22-02A22DD1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6D27-376F-473A-3A50-BF15B73E9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B813D-8CED-4BFF-AF0D-24C1FB796A6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527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914400" y="3048000"/>
            <a:ext cx="10566400" cy="0"/>
          </a:xfrm>
          <a:prstGeom prst="line">
            <a:avLst/>
          </a:prstGeom>
          <a:noFill/>
          <a:ln w="9525">
            <a:solidFill>
              <a:srgbClr val="9A9A9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3276600"/>
            <a:ext cx="10261600" cy="762000"/>
          </a:xfrm>
          <a:prstGeom prst="rect">
            <a:avLst/>
          </a:prstGeom>
        </p:spPr>
        <p:txBody>
          <a:bodyPr/>
          <a:lstStyle>
            <a:lvl1pPr>
              <a:defRPr sz="195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6033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34" y="2193930"/>
            <a:ext cx="18462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0007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57250" indent="-171450">
              <a:tabLst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14425" indent="-171450"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330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552" y="1087395"/>
            <a:ext cx="5393267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087395"/>
            <a:ext cx="5395383" cy="5187899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8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51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210963"/>
            <a:ext cx="5393267" cy="5055369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87037" y="1210962"/>
            <a:ext cx="5395383" cy="22479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87019" y="3599935"/>
            <a:ext cx="5395383" cy="266639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53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0552" y="1194486"/>
            <a:ext cx="5393267" cy="4901514"/>
          </a:xfrm>
        </p:spPr>
        <p:txBody>
          <a:bodyPr/>
          <a:lstStyle>
            <a:lvl1pPr>
              <a:defRPr>
                <a:latin typeface="HelveticaNeueLT Pro 55 Roman" pitchFamily="34" charset="0"/>
              </a:defRPr>
            </a:lvl1pPr>
            <a:lvl2pPr>
              <a:defRPr>
                <a:latin typeface="HelveticaNeueLT Pro 55 Roman" pitchFamily="34" charset="0"/>
              </a:defRPr>
            </a:lvl2pPr>
            <a:lvl3pPr>
              <a:defRPr>
                <a:latin typeface="HelveticaNeueLT Pro 55 Roman" pitchFamily="34" charset="0"/>
              </a:defRPr>
            </a:lvl3pPr>
            <a:lvl4pPr>
              <a:defRPr>
                <a:latin typeface="HelveticaNeueLT Pro 55 Roman" pitchFamily="34" charset="0"/>
              </a:defRPr>
            </a:lvl4pPr>
            <a:lvl5pPr>
              <a:defRPr>
                <a:latin typeface="HelveticaNeueLT Pro 55 Roman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9" y="1194486"/>
            <a:ext cx="5395383" cy="490151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5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2" y="1169773"/>
            <a:ext cx="10991849" cy="4926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" name="Line 8"/>
          <p:cNvSpPr>
            <a:spLocks noChangeShapeType="1"/>
          </p:cNvSpPr>
          <p:nvPr userDrawn="1"/>
        </p:nvSpPr>
        <p:spPr bwMode="auto">
          <a:xfrm>
            <a:off x="508000" y="822960"/>
            <a:ext cx="11074400" cy="0"/>
          </a:xfrm>
          <a:prstGeom prst="line">
            <a:avLst/>
          </a:prstGeom>
          <a:noFill/>
          <a:ln w="12700" algn="ctr">
            <a:solidFill>
              <a:srgbClr val="004E8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600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87680" y="91440"/>
            <a:ext cx="11074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508000" y="6518275"/>
            <a:ext cx="1133437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© Bayview Asset Management, LLC.  All Rights Reserved.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    			     </a:t>
            </a:r>
            <a:r>
              <a:rPr lang="en-US" altLang="en-US" sz="600">
                <a:solidFill>
                  <a:srgbClr val="424456"/>
                </a:solidFill>
                <a:latin typeface="Century Gothic" panose="020B0502020202020204" pitchFamily="34" charset="0"/>
              </a:rPr>
              <a:t>CONFIDENTIAL			</a:t>
            </a:r>
            <a:r>
              <a:rPr lang="en-US" altLang="en-US" sz="600" baseline="0">
                <a:solidFill>
                  <a:srgbClr val="424456"/>
                </a:solidFill>
                <a:latin typeface="Century Gothic" panose="020B0502020202020204" pitchFamily="34" charset="0"/>
              </a:rPr>
              <a:t>          		                                      </a:t>
            </a:r>
            <a:fld id="{0AD735B9-CEC7-4AFC-8728-2EEEC1333C4B}" type="slidenum">
              <a:rPr lang="en-US" altLang="en-US" sz="600" smtClean="0">
                <a:solidFill>
                  <a:srgbClr val="424456"/>
                </a:solidFill>
                <a:latin typeface="Century Gothic" panose="020B0502020202020204" pitchFamily="34" charset="0"/>
              </a:rPr>
              <a:t>‹#›</a:t>
            </a:fld>
            <a:endParaRPr lang="en-US" altLang="en-US" sz="600">
              <a:solidFill>
                <a:srgbClr val="42445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13" descr="BAM-logo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01" y="244381"/>
            <a:ext cx="11816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098" r:id="rId2"/>
    <p:sldLayoutId id="2147484099" r:id="rId3"/>
    <p:sldLayoutId id="2147484100" r:id="rId4"/>
    <p:sldLayoutId id="2147484101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3D69"/>
          </a:solidFill>
          <a:latin typeface="HelveticaNeueLT Pro 65 Md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rgbClr val="003D69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rgbClr val="000000"/>
          </a:solidFill>
          <a:latin typeface="HelveticaNeueLT Pro 55 Roman" pitchFamily="34" charset="0"/>
          <a:ea typeface="+mn-ea"/>
          <a:cs typeface="+mn-cs"/>
        </a:defRPr>
      </a:lvl1pPr>
      <a:lvl2pPr marL="4572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400">
          <a:solidFill>
            <a:srgbClr val="7F7F7F"/>
          </a:solidFill>
          <a:latin typeface="HelveticaNeueLT Pro 55 Roman" pitchFamily="34" charset="0"/>
        </a:defRPr>
      </a:lvl2pPr>
      <a:lvl3pPr marL="8001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200">
          <a:solidFill>
            <a:srgbClr val="7F7F7F"/>
          </a:solidFill>
          <a:latin typeface="HelveticaNeueLT Pro 55 Roman" pitchFamily="34" charset="0"/>
        </a:defRPr>
      </a:lvl3pPr>
      <a:lvl4pPr marL="1143000" indent="-228600" algn="l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4pPr>
      <a:lvl5pPr marL="1485900" indent="-228600" algn="just" rtl="0" eaLnBrk="0" fontAlgn="base" hangingPunct="0">
        <a:spcBef>
          <a:spcPct val="4000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§"/>
        <a:defRPr sz="1000">
          <a:solidFill>
            <a:srgbClr val="7F7F7F"/>
          </a:solidFill>
          <a:latin typeface="HelveticaNeueLT Pro 55 Roman" pitchFamily="34" charset="0"/>
        </a:defRPr>
      </a:lvl5pPr>
      <a:lvl6pPr marL="21145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6pPr>
      <a:lvl7pPr marL="25717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7pPr>
      <a:lvl8pPr marL="30289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8pPr>
      <a:lvl9pPr marL="3486150" indent="-228600" algn="just" rtl="0" fontAlgn="base">
        <a:spcBef>
          <a:spcPct val="40000"/>
        </a:spcBef>
        <a:spcAft>
          <a:spcPct val="0"/>
        </a:spcAft>
        <a:buClr>
          <a:schemeClr val="folHlink"/>
        </a:buClr>
        <a:buFont typeface="Wingdings" pitchFamily="2" charset="2"/>
        <a:tabLst>
          <a:tab pos="457200" algn="l"/>
        </a:tabLst>
        <a:defRPr sz="16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914400" y="3154166"/>
            <a:ext cx="10261600" cy="1315092"/>
          </a:xfrm>
        </p:spPr>
        <p:txBody>
          <a:bodyPr/>
          <a:lstStyle/>
          <a:p>
            <a:r>
              <a:rPr lang="en-US" sz="2800" dirty="0">
                <a:latin typeface="Arial"/>
                <a:cs typeface="Arial"/>
              </a:rPr>
              <a:t>Information Security Risk &amp; Compliance (ISRC)</a:t>
            </a:r>
            <a:br>
              <a:rPr lang="en-US" sz="28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Strategic Planning 2025</a:t>
            </a:r>
            <a:br>
              <a:rPr lang="en-US" sz="24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July 29, 2025 – July 31, 2025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15351" y="6505575"/>
            <a:ext cx="45481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0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A1AF-E252-4BA8-30A4-976EDEFC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2">
            <a:extLst>
              <a:ext uri="{FF2B5EF4-FFF2-40B4-BE49-F238E27FC236}">
                <a16:creationId xmlns:a16="http://schemas.microsoft.com/office/drawing/2014/main" id="{E0808C00-1929-5C84-C1EA-20546BA30D6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11125200" cy="4691126"/>
          </a:xfrm>
        </p:spPr>
        <p:txBody>
          <a:bodyPr/>
          <a:lstStyle/>
          <a:p>
            <a:pPr marL="0" indent="0" algn="l">
              <a:buNone/>
            </a:pPr>
            <a:r>
              <a:rPr lang="en-US" sz="2400" dirty="0"/>
              <a:t>….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CF22A838-9CF6-CE1B-1EFE-4EFC1DA303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60000" y="6553200"/>
            <a:ext cx="17272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715DC2-0728-4765-960B-3867E6882CA1}" type="slidenum">
              <a:rPr lang="en-US" altLang="en-US" sz="900">
                <a:solidFill>
                  <a:schemeClr val="bg1"/>
                </a:solidFill>
              </a:rPr>
              <a:pPr/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172" name="Title 2">
            <a:extLst>
              <a:ext uri="{FF2B5EF4-FFF2-40B4-BE49-F238E27FC236}">
                <a16:creationId xmlns:a16="http://schemas.microsoft.com/office/drawing/2014/main" id="{C788B9A5-B3F6-C730-AD96-0264E528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467725" cy="640080"/>
          </a:xfrm>
        </p:spPr>
        <p:txBody>
          <a:bodyPr/>
          <a:lstStyle/>
          <a:p>
            <a:r>
              <a:rPr lang="en-US" dirty="0"/>
              <a:t>Topic</a:t>
            </a:r>
            <a:br>
              <a:rPr lang="en-US" dirty="0"/>
            </a:br>
            <a:r>
              <a:rPr lang="en-US" dirty="0"/>
              <a:t>Sub-topic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91B9413-74C4-8ED9-575D-41A4DDC13DC1}"/>
              </a:ext>
            </a:extLst>
          </p:cNvPr>
          <p:cNvSpPr txBox="1">
            <a:spLocks/>
          </p:cNvSpPr>
          <p:nvPr/>
        </p:nvSpPr>
        <p:spPr bwMode="auto">
          <a:xfrm>
            <a:off x="3101580" y="1890219"/>
            <a:ext cx="5095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3D69"/>
                </a:solidFill>
                <a:latin typeface="HelveticaNeueLT Pro 65 Md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D69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sz="1200" kern="0"/>
          </a:p>
        </p:txBody>
      </p:sp>
      <p:sp>
        <p:nvSpPr>
          <p:cNvPr id="7176" name="AutoShape 2" descr="https://usc-powerpoint.officeapps.live.com/pods/GetClipboardImage.ashx?Id=ddeb6509-a4e4-44be-9cf4-14d5ce8c69f4&amp;DC=PUS10&amp;pkey=c44f61af-a561-4bfb-aa53-698f8c4241b3&amp;wdwaccluster=PUS10">
            <a:extLst>
              <a:ext uri="{FF2B5EF4-FFF2-40B4-BE49-F238E27FC236}">
                <a16:creationId xmlns:a16="http://schemas.microsoft.com/office/drawing/2014/main" id="{AFD2D294-2921-445E-ADC9-F8A8C1B88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919" y="748904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600"/>
          </a:p>
        </p:txBody>
      </p:sp>
    </p:spTree>
    <p:extLst>
      <p:ext uri="{BB962C8B-B14F-4D97-AF65-F5344CB8AC3E}">
        <p14:creationId xmlns:p14="http://schemas.microsoft.com/office/powerpoint/2010/main" val="3605476898"/>
      </p:ext>
    </p:extLst>
  </p:cSld>
  <p:clrMapOvr>
    <a:masterClrMapping/>
  </p:clrMapOvr>
</p:sld>
</file>

<file path=ppt/theme/theme1.xml><?xml version="1.0" encoding="utf-8"?>
<a:theme xmlns:a="http://schemas.openxmlformats.org/drawingml/2006/main" name="2007_Bayvi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yview">
      <a:majorFont>
        <a:latin typeface="HelveticaNeueLT Pro 65 Md"/>
        <a:ea typeface=""/>
        <a:cs typeface=""/>
      </a:majorFont>
      <a:minorFont>
        <a:latin typeface="HelveticaNeueLT Pro 65 M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007_Bayview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_Bayview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_Bayvi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8D792CF04CA54485B181F999321BCE" ma:contentTypeVersion="16" ma:contentTypeDescription="Create a new document." ma:contentTypeScope="" ma:versionID="9ac8c3b5907b40fbd630024cb4ba69a0">
  <xsd:schema xmlns:xsd="http://www.w3.org/2001/XMLSchema" xmlns:xs="http://www.w3.org/2001/XMLSchema" xmlns:p="http://schemas.microsoft.com/office/2006/metadata/properties" xmlns:ns1="http://schemas.microsoft.com/sharepoint/v3" xmlns:ns2="6ca9bcb0-4efa-4f67-b784-6083b04a2a80" xmlns:ns3="22ea2f7b-fe6f-4cea-94a2-f8529ccdbcba" targetNamespace="http://schemas.microsoft.com/office/2006/metadata/properties" ma:root="true" ma:fieldsID="d8bdfdeb07682d2965917f44fb2e5030" ns1:_="" ns2:_="" ns3:_="">
    <xsd:import namespace="http://schemas.microsoft.com/sharepoint/v3"/>
    <xsd:import namespace="6ca9bcb0-4efa-4f67-b784-6083b04a2a80"/>
    <xsd:import namespace="22ea2f7b-fe6f-4cea-94a2-f8529ccdbc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a9bcb0-4efa-4f67-b784-6083b04a2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25646c8-beb0-4214-bb72-bcc2d6571c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a2f7b-fe6f-4cea-94a2-f8529ccdbcb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9ca8da8-81b5-4e1f-b490-e5530d975492}" ma:internalName="TaxCatchAll" ma:showField="CatchAllData" ma:web="22ea2f7b-fe6f-4cea-94a2-f8529ccdbc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2ea2f7b-fe6f-4cea-94a2-f8529ccdbcba">
      <UserInfo>
        <DisplayName>Steve Rodriguez</DisplayName>
        <AccountId>13</AccountId>
        <AccountType/>
      </UserInfo>
      <UserInfo>
        <DisplayName>Arturo Perez</DisplayName>
        <AccountId>19</AccountId>
        <AccountType/>
      </UserInfo>
      <UserInfo>
        <DisplayName>Nate Wilkey</DisplayName>
        <AccountId>23</AccountId>
        <AccountType/>
      </UserInfo>
      <UserInfo>
        <DisplayName>SharingLinks.43505ca2-475f-464c-967a-dd51e076091a.Flexible.59cb768e-bd32-4026-ad33-ab67ae9711e7</DisplayName>
        <AccountId>24</AccountId>
        <AccountType/>
      </UserInfo>
      <UserInfo>
        <DisplayName>Limited Access System Group For List 6ca9bcb0-4efa-4f67-b784-6083b04a2a80</DisplayName>
        <AccountId>25</AccountId>
        <AccountType/>
      </UserInfo>
      <UserInfo>
        <DisplayName>Alexander Suarez</DisplayName>
        <AccountId>33</AccountId>
        <AccountType/>
      </UserInfo>
      <UserInfo>
        <DisplayName>Eddie Buitrago</DisplayName>
        <AccountId>38</AccountId>
        <AccountType/>
      </UserInfo>
      <UserInfo>
        <DisplayName>Richard O'Brien</DisplayName>
        <AccountId>41</AccountId>
        <AccountType/>
      </UserInfo>
      <UserInfo>
        <DisplayName>Snezhanna Marcano</DisplayName>
        <AccountId>17</AccountId>
        <AccountType/>
      </UserInfo>
      <UserInfo>
        <DisplayName>Carlos Longa</DisplayName>
        <AccountId>494</AccountId>
        <AccountType/>
      </UserInfo>
    </SharedWithUsers>
    <lcf76f155ced4ddcb4097134ff3c332f xmlns="6ca9bcb0-4efa-4f67-b784-6083b04a2a80">
      <Terms xmlns="http://schemas.microsoft.com/office/infopath/2007/PartnerControls"/>
    </lcf76f155ced4ddcb4097134ff3c332f>
    <TaxCatchAll xmlns="22ea2f7b-fe6f-4cea-94a2-f8529ccdbcb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F6EA1F8-3E0A-4E40-8734-0894C56E385A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98CD8EF3-65FB-4A6D-9029-7BCB8F85C414}"/>
</file>

<file path=customXml/itemProps3.xml><?xml version="1.0" encoding="utf-8"?>
<ds:datastoreItem xmlns:ds="http://schemas.openxmlformats.org/officeDocument/2006/customXml" ds:itemID="{02C09789-3378-4FA8-A6D3-F0B2F7EE8E8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C153F97-6355-45EB-993A-4CD212C74417}">
  <ds:schemaRefs>
    <ds:schemaRef ds:uri="22ea2f7b-fe6f-4cea-94a2-f8529ccdbcba"/>
    <ds:schemaRef ds:uri="http://schemas.microsoft.com/office/2006/metadata/properties"/>
    <ds:schemaRef ds:uri="http://purl.org/dc/terms/"/>
    <ds:schemaRef ds:uri="http://purl.org/dc/dcmitype/"/>
    <ds:schemaRef ds:uri="6ca9bcb0-4efa-4f67-b784-6083b04a2a80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427e0154-5da1-4a9f-a0dd-5cf024181008}" enabled="1" method="Privileged" siteId="{b69d2824-6a9f-4f56-8c46-af69a163f59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2007_Bayview</Template>
  <TotalTime>58</TotalTime>
  <Words>28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2007_Bayview</vt:lpstr>
      <vt:lpstr>Information Security Risk &amp; Compliance (ISRC) Strategic Planning 2025 July 29, 2025 – July 31, 2025</vt:lpstr>
      <vt:lpstr>Topic Sub-topic</vt:lpstr>
    </vt:vector>
  </TitlesOfParts>
  <Company>bftg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bftg</dc:creator>
  <cp:lastModifiedBy>Jay Rosario</cp:lastModifiedBy>
  <cp:revision>15</cp:revision>
  <dcterms:created xsi:type="dcterms:W3CDTF">2004-07-08T15:09:34Z</dcterms:created>
  <dcterms:modified xsi:type="dcterms:W3CDTF">2026-04-24T20:06:22Z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any">
    <vt:lpwstr>BAM</vt:lpwstr>
  </property>
  <property fmtid="{D5CDD505-2E9C-101B-9397-08002B2CF9AE}" pid="3" name="Order">
    <vt:lpwstr>100.000000000000</vt:lpwstr>
  </property>
  <property fmtid="{D5CDD505-2E9C-101B-9397-08002B2CF9AE}" pid="4" name="ContentTypeId">
    <vt:lpwstr>0x010100CB8D792CF04CA54485B181F999321BCE</vt:lpwstr>
  </property>
  <property fmtid="{D5CDD505-2E9C-101B-9397-08002B2CF9AE}" pid="5" name="MediaServiceImageTags">
    <vt:lpwstr/>
  </property>
</Properties>
</file>